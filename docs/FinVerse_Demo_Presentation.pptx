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GRADUATE PROJECT  ·  INDIVIDUAL SUBMISSION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FinVerse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8BDF8"/>
                </a:solidFill>
                <a:latin typeface="Calibri"/>
              </a:rPr>
              <a:t>Intelligent Personal Finance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  <a:latin typeface="Calibri"/>
              </a:rPr>
              <a:t>A full-stack, multi-module financial analytics application demonstrating real-time
account aggregation, AI-powered insights, pattern detection, and predictive forecasting.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05840" cy="292608"/>
          </a:xfrm>
          <a:prstGeom prst="rect">
            <a:avLst/>
          </a:prstGeom>
          <a:solidFill>
            <a:srgbClr val="154A66"/>
          </a:solidFill>
          <a:ln w="6350">
            <a:solidFill>
              <a:srgbClr val="3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3767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Next.js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5648" y="3749039"/>
            <a:ext cx="1705356" cy="292608"/>
          </a:xfrm>
          <a:prstGeom prst="rect">
            <a:avLst/>
          </a:prstGeom>
          <a:solidFill>
            <a:srgbClr val="154A66"/>
          </a:solidFill>
          <a:ln w="6350">
            <a:solidFill>
              <a:srgbClr val="3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767328"/>
            <a:ext cx="16139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PostgreSQL + Prisma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70732" y="3749039"/>
            <a:ext cx="1860804" cy="292608"/>
          </a:xfrm>
          <a:prstGeom prst="rect">
            <a:avLst/>
          </a:prstGeom>
          <a:solidFill>
            <a:srgbClr val="154A66"/>
          </a:solidFill>
          <a:ln w="6350">
            <a:solidFill>
              <a:srgbClr val="3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3884" y="3767328"/>
            <a:ext cx="17693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Claude AI (Anthropic)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41264" y="3749039"/>
            <a:ext cx="1005840" cy="292608"/>
          </a:xfrm>
          <a:prstGeom prst="rect">
            <a:avLst/>
          </a:prstGeom>
          <a:solidFill>
            <a:srgbClr val="154A66"/>
          </a:solidFill>
          <a:ln w="6350">
            <a:solidFill>
              <a:srgbClr val="3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3767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56832" y="3749039"/>
            <a:ext cx="1239012" cy="292608"/>
          </a:xfrm>
          <a:prstGeom prst="rect">
            <a:avLst/>
          </a:prstGeom>
          <a:solidFill>
            <a:srgbClr val="154A66"/>
          </a:solidFill>
          <a:ln w="6350">
            <a:solidFill>
              <a:srgbClr val="3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3767328"/>
            <a:ext cx="11475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BullMQ Worker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572" y="3749039"/>
            <a:ext cx="1005840" cy="292608"/>
          </a:xfrm>
          <a:prstGeom prst="rect">
            <a:avLst/>
          </a:prstGeom>
          <a:solidFill>
            <a:srgbClr val="154A66"/>
          </a:solidFill>
          <a:ln w="6350">
            <a:solidFill>
              <a:srgbClr val="3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8724" y="3767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RBAC + MFA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788"/>
                </a:solidFill>
                <a:latin typeface="Calibri"/>
              </a:rPr>
              <a:t>Demo Date: April 29, 2026   ·   Paresh Pandit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309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5566"/>
                </a:solidFill>
                <a:latin typeface="Calibri"/>
              </a:rPr>
              <a:t>17 slides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  <a:latin typeface="Calibri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What is FinVerse?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 production-quality financial analytics platform giving individuals a single secure dashboard over all their financial accounts — with built-in intelligence for detection, forecasting, and advice.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657600" cy="2194560"/>
          </a:xfrm>
          <a:prstGeom prst="rect">
            <a:avLst/>
          </a:prstGeom>
          <a:solidFill>
            <a:srgbClr val="F0F9FF"/>
          </a:solidFill>
          <a:ln w="9525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📊  Aggregate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58568"/>
            <a:ext cx="33832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Unifies checking, savings, credit cards, investment accounts, and loans. Real-time net worth tracking across 7 linked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3657600" cy="2194560"/>
          </a:xfrm>
          <a:prstGeom prst="rect">
            <a:avLst/>
          </a:prstGeom>
          <a:solidFill>
            <a:srgbClr val="F0F9FF"/>
          </a:solidFill>
          <a:ln w="9525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84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🔍 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58568"/>
            <a:ext cx="33832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Automatically identifies recurring subscriptions (≤10% variance algorithm), spending anomalies, and budget overruns using statistical methods.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657600" cy="2194560"/>
          </a:xfrm>
          <a:prstGeom prst="rect">
            <a:avLst/>
          </a:prstGeom>
          <a:solidFill>
            <a:srgbClr val="F0F9FF"/>
          </a:solidFill>
          <a:ln w="9525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84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🤖  Advise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58568"/>
            <a:ext cx="33832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Generates AI-powered health reports, spending forecasts, debt payoff strategies, and tax estimates via Claude Sonnet 4.6.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Core 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5371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Most individuals manage finances across 5–8 disconnected accounts with no holistic view. FinVerse replaces spreadsheets and app-switching with a unified analytical platform that surfaces insights automatically — reducing the cognitive load of financial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TECHNICAL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132320" cy="713232"/>
          </a:xfrm>
          <a:prstGeom prst="rect">
            <a:avLst/>
          </a:prstGeom>
          <a:solidFill>
            <a:srgbClr val="E0F2FE"/>
          </a:solidFill>
          <a:ln w="63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91056"/>
            <a:ext cx="164592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Next.js 15 App Router · React 18 · Tailwind CSS · Recharts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7132320" cy="71323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432304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9689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Next.js Route Handlers · Zod validation · RBAC middleware · NextAuth v5 JWT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54096"/>
            <a:ext cx="7132320" cy="713232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73552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455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Worker / 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3814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BullMQ job queue · Redis · Claude Sonnet 4.6 · Tool-use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95344"/>
            <a:ext cx="7132320" cy="713232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14800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867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793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PostgreSQL · Prisma ORM · 27 models · BigInt monetary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36592"/>
            <a:ext cx="7132320" cy="713232"/>
          </a:xfrm>
          <a:prstGeom prst="rect">
            <a:avLst/>
          </a:prstGeom>
          <a:solidFill>
            <a:srgbClr val="FFE4E6"/>
          </a:solidFill>
          <a:ln w="63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56048"/>
            <a:ext cx="164592" cy="1645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8280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Security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AES-256-GCM encryption · MFA (TOTP) · CSP headers · 20+ permissions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1737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463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2F49"/>
                </a:solidFill>
                <a:latin typeface="Calibri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Prisma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1371600"/>
            <a:ext cx="1737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463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2F49"/>
                </a:solidFill>
                <a:latin typeface="Calibri"/>
              </a:rPr>
              <a:t>20+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API Routes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560320"/>
            <a:ext cx="1737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2F49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1546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RBAC Roles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2560320"/>
            <a:ext cx="1737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2F49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31546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Packages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Monorepo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16052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apps/web  — Next.js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50799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apps/worker  — BullMQ AI worker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5546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packages/db  — Prisma schema + migrations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20293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packages/shared  — RBAC, money, validators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APRIL 29 DEMO  ·  PART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Core Platform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Seven fully functional modules demonstrated end-to-end with live seeded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3657600" cy="19659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🏠  Unified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7 linked accounts — checking ($6.2k), savings ($18.4k), 2 credit cards, Roth IRA, brokerage ($12.5k), auto loan. Net worth at $61.3k.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27632"/>
            <a:ext cx="3657600" cy="19659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📈  Portfolio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11 holdings across IRA + brokerage. Shows unrealized P&amp;L per position ($13.3k total), asset allocation pie chart, day-change tracking.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27632"/>
            <a:ext cx="3657600" cy="19659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💳  Credit Score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57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6-month score trajectory (718→742), utilization breakdown, 3 credit accounts with payment status and next due 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30752"/>
            <a:ext cx="3657600" cy="19659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🎯  Goal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5 concurrent goals — Emergency Fund (51%), House Down Payment (22% – at risk), Roth IRA Max, Japan Trip (completed ✓), Auto Loan.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730752"/>
            <a:ext cx="3657600" cy="19659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📊  Budget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16052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8-category monthly budget. Shopping at 192% overage (MacBook Air – intentional demo spike). Bills at 91%, approaching limit.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730752"/>
            <a:ext cx="3657600" cy="19659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📝  Net Worth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16052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12-month snapshot trail ($32.6k → $61.3k). Line chart with asset/liability breakdown. Clear upward trend for demo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APRIL 29 DEMO  ·  PART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Advanced Analytics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🤖  AI Financial Health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Claude Sonnet 4.6 generates a structured 0–100 health score with colour-coded Concerns, Strengths, and Recommendations in a 3-column layout. Demo score: 72/100.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481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📅  Spending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1" y="180136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Month-view calendar where cell darkness maps to daily spend. Rent days and the MacBook purchase are visually distinct peaks. Click any cell for merchant breakdown.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729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🔔  Alert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9300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4 rule types: budget breach, large transaction, spending threshold, bill due. 2 unread alerts pre-seeded from the MacBook purchase triggering the $500 large-transaction rule.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306324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31729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🔄  Recurring 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349300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Scans 90 days of transactions, groups by merchant, flags ≥2 charges with ≤10% amount variance. Detected 8 subscriptions totalling $120.94/month.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8646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📉  Debt Payoff Calculator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18464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3 debts ($38k total). Real-time amortization slider — drag monthly payment, see payoff timeline and interest savings update instantly. Avalanche vs Snowball comparison.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75488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1" y="48646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🧾  Tax Estimator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1" y="518464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Pre-fills income from transactions and $13.3k capital gains from portfolio. Live 2024 federal bracket + state flat rate. All math client-side, updates on every keystroke.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Demo Workflow — April 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90472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508760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Authenticate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6479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JWT login (demo@finverse.app). Session via HttpOnly cookie. Optional TOTP MFA for sensitive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90472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3" y="1508760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481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Dashboard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76479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Single-page summary: net worth ($61.3k), 7 account balances, recent transactions, portfolio snapshot, and financial health card.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52344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277063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431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Portfolio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26663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Navigate to Portfolio → holdings table with per-position P&amp;L, unrealized gains, asset allocation pie chart.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752344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3" y="277063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7431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Generate Health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026663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Click 'Generate Report' → BullMQ job → Claude AI analyses 12 financial indicators → structured report in ~8 seconds.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14215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4032503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05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Spending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88536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Heatmap reveals MacBook spike on Day 9. Recurring detector surfaces 8 subscriptions. Budget shows 192% overage in Shopping.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014215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3" y="4032503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4005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Debt, Forecast &amp; Tax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4288536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Debt amortization slider in real-time. 30-day forecast at 78% confidence. Tax page pre-fills income + unrealized gains.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76088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5294375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669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Alert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550407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2 unread alerts highlighted in amber — MacBook triggered large-transaction rule, Shopping category breached 100% of budget.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5276088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3" y="5294375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52669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Goal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5550407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House Down Payment goal flagged 'at risk' — at current $1,000/mo rate will be $31k short by target date.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  <a:latin typeface="Calibr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WHAT WAS BUILT  ·  PART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Backend &amp; Data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017520" cy="141732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Identity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User, Organization, Membership,
Session, MfaSecret, AuditLog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328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  <a:latin typeface="Calibri"/>
              </a:rPr>
              <a:t>6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417320"/>
            <a:ext cx="3017520" cy="141732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Financial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80136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FinancialAccount, Transaction,
Holding, Security, 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5328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  <a:latin typeface="Calibri"/>
              </a:rPr>
              <a:t>6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3017520" cy="141732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Planning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5584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Goal, Budget, BudgetCategory,
DebtAccount, PayoffStrategy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87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  <a:latin typeface="Calibri"/>
              </a:rPr>
              <a:t>6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971800"/>
            <a:ext cx="3017520" cy="141732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35584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Insight, SpendingForecast,
AlertRule, AlertHistory, CreditScore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087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  <a:latin typeface="Calibri"/>
              </a:rPr>
              <a:t>7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1417320"/>
            <a:ext cx="5212080" cy="112471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$  BigInt for All 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80136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Every monetary value stored as integer cents. Eliminates IEEE 754 rounding errors. Explicit centsToDollars() conversion at every JSON boundary.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679191"/>
            <a:ext cx="5212080" cy="112471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770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🔒  RBAC with 20+ Permissions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063239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4 roles (Owner/Admin/Member/Viewer) × granular permissions checked on every API route. MFA required for sensitive mutations.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941063"/>
            <a:ext cx="5212080" cy="112471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03250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⚡  AI via Tool-Use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325112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BullMQ job enqueues analysis. Worker calls Claude with 12 financial tools — get_spending_by_category, get_portfolio_summary, etc. Structured JSON returned.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5202936"/>
            <a:ext cx="5212080" cy="112471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5294375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🌱  Production-Ready Seed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586983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99 realistic transactions, 11 holdings, 5 goals, 3 debts, 4 alert rules, 3 AI insights — all idempotent and designed to make every feature demo-ready.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WHAT WAS BUILT  ·  PART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Algorithms &amp; Detection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270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🔄  Recurring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5623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Groups 90-day transactions by merchant name. For each group with ≥2 charges:
  maxDeviation = max(|aᵢ − avg| / avg)
  if maxDeviation ≤ 0.10  →  RECURRING
  monthlyCost = (avg × 30) / (90 / count)
Detected 8 subscriptions in demo. Shared between web API and Claude tool.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4173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5270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📉  Debt Amortization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1" y="185623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Client-side real-time simulation (no API round-trip):
  while balance &gt; 0:  interest = balance × (APR/12)
                      balance += interest − payment
Slider recalculation in &lt;1ms. Compares minimum vs accelerated payoff.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502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📊  Spending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7939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Aggregates 90 days into daily buckets. Computes:
  trend = (recent30Avg − older30Avg) / older30Avg
  projection[i] = recent30Avg × (1 + trend × i/30)
  confidence = 1 − (σ/mean)  [clamped 0.30–0.95]
Stored in SpendingForecast table; 78% confidence in demo.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384048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39502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🧾  Tax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427939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2024 federal progressive brackets + 22 state flat rates.
  taxableIncome = gross − standardDeduction
  ltcgTax = bracketTax(income+gains) − bracketTax(income)
Pre-fills income from transactions &amp; gains from portfolio.
All computation runs on the client — zero server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WHAT WAS BUILT  ·  PART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UI Design System &amp; Module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828800" cy="384048"/>
          </a:xfrm>
          <a:prstGeom prst="rect">
            <a:avLst/>
          </a:prstGeom>
          <a:solidFill>
            <a:srgbClr val="08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Calibri"/>
              </a:rPr>
              <a:t>sky-950 Primary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371600"/>
            <a:ext cx="182880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Calibri"/>
              </a:rPr>
              <a:t>sky-500 Accent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1828800" cy="384048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Calibri"/>
              </a:rPr>
              <a:t>sky-100 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1828800" cy="38404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Calibri"/>
              </a:rPr>
              <a:t>rose Danger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18288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Calibri"/>
              </a:rPr>
              <a:t>emerald Success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371600"/>
            <a:ext cx="18288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1773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Calibri"/>
              </a:rPr>
              <a:t>amber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14 Complete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87168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32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2487168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04288" y="2532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Accounts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77056" y="2487168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8496" y="2532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Portfolio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41264" y="2487168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2703" y="2532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Credit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5472" y="2487168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532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Net Worth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487168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19" y="2532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Goals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33888" y="2487168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25328" y="2532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Budgets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926080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Heatmap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12848" y="2926080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04288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Recurring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77056" y="2926080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68496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Debt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41264" y="2926080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3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Alerts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5472" y="2926080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6912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Forecast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2926080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Tax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33888" y="2926080"/>
            <a:ext cx="1600200" cy="34747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25328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2F49"/>
                </a:solidFill>
                <a:latin typeface="Calibri"/>
              </a:rPr>
              <a:t>Insights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2F49"/>
                </a:solidFill>
                <a:latin typeface="Calibri"/>
              </a:rPr>
              <a:t>UI Patterns Applied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3822191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✦  Server components for initial data load (budgets, portfolio)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2245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✦  Client components for interactivity (debt slider, heatmap calendar)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62686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✦  Inline dialogs — no external component file dependencies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029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✦  Progressive disclosure — expand/collapse on debt and alert cards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43153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✦  Real-time computation — tax and amortization, zero server latency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LESSONS LEARNED  ·  PART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Technical Lessons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9105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087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Prisma Schema ≠ Generated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810512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Adding @map or new fields requires: run migration, regenerate client, restart server — all three. Skipping any step produces silent P2022 column-not-found errors at runtime, not at compile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54864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572768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59105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5087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pnpm Workspaces Have Non-Obvious Resolution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810512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Each package resolves from its own node_modules first. The Prisma client generated at workspace root was invisible to sub-packages using a local stub — causing TypeScript and runtime divergence.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54864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236976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2552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7296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JSON Cannot Serialize BigInt or Prisma Decimal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47472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JSON.stringify() throws on BigInt and silently coerces Decimal objects to strings. Every API boundary required explicit Number() and centsToDollars() conversions — a systemic issue across 6 routes.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081528"/>
            <a:ext cx="54864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3236976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32552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17296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Browser Session State Outlives Database Resets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47472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After db:reset, existing JWT cookies still validate (same AUTH_SECRET) but reference stale UUIDs. Dashboard found no org membership → silent redirect loop. Fix: signOut() before re-auth.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45736"/>
            <a:ext cx="54864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01184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194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8371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Zod Validator Chaining Order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138928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z.number().default(90).min(30) throws at module load — .default() returns ZodDefault, not ZodNumber. Correct: z.number().min(30).max(365).default(90). Crashed the entire forecast route on startup.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4745736"/>
            <a:ext cx="54864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4901184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9194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8371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useEffect Dependencies Cause Race Conditions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5138928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Hooks fetching data with [] while using async props (orgId) sometimes executed before the prop was set. Fix: split into two effects — one for orgId resolution, one for data fetching.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LESSONS LEARNED  ·  PART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Design, Product &amp; Architecture Lessons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153619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9105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087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Seed Data Is a First-Class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810512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Analytical features require dense, realistic data to be meaningful. The final seed — 99 transactions with deliberate peaks, 8 recurring subscriptions, 192% budget spike — tells a story. Sparse seed data is a demo killer.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5486400" cy="153619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572768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59105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5087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Progressive Disclosure Beats Feature Dumping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810512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Early debt UI crammed all details into one scrollable card. Redesigning to summary KPIs + per-card expand/collapse + inline slider kept everything in one mental context and removed the need for modal navigation.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5486400" cy="153619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236976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2552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7296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Design Systems Pay Compound Interest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47472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The first 4 modules used generic shadcn defaults. After a unified sky-950 system, each subsequent module took ~40% less time to style because every decision — color, radius, shadow, spacing — was already resolved.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081528"/>
            <a:ext cx="5486400" cy="153619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3236976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32552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17296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Client-Side Computation Beats API Latency for Interactive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47472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Debt amortization and tax estimator originally made API calls on input change. Even 50ms latency made sliders feel laggy. Moving math to pure JS (&lt;1ms) made both features feel instantaneous.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45736"/>
            <a:ext cx="5486400" cy="153619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01184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194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8371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Error Surfaces Should Diagnose, Not Just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138928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The forecast route returned generic 500s for weeks. Adding try/catch with console.error and propagating the actual error message to the client immediately revealed the Zod chaining bug. Opaque 500s are debugging debt.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4745736"/>
            <a:ext cx="5486400" cy="153619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4901184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9194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83717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Architecture Decisions Have Long Shadows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5138928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BigInt cents prevents precision bugs but requires explicit conversion everywhere. pnpm monorepo enables code sharing but adds Prisma resolution complexity. Each tradeoff compounds — early decisions are load-bearing walls.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BIG DATA ANALYSIS  ·  PART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Current Scale &amp; Breaking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51760" cy="1188720"/>
          </a:xfrm>
          <a:prstGeom prst="rect">
            <a:avLst/>
          </a:prstGeom>
          <a:solidFill>
            <a:srgbClr val="0C3A55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BB"/>
                </a:solidFill>
                <a:latin typeface="Calibri"/>
              </a:rPr>
              <a:t>transactions
per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1188720"/>
          </a:xfrm>
          <a:prstGeom prst="rect">
            <a:avLst/>
          </a:prstGeom>
          <a:solidFill>
            <a:srgbClr val="0C3A55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2996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BB"/>
                </a:solidFill>
                <a:latin typeface="Calibri"/>
              </a:rPr>
              <a:t>portfolio
holdings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651760" cy="1188720"/>
          </a:xfrm>
          <a:prstGeom prst="rect">
            <a:avLst/>
          </a:prstGeom>
          <a:solidFill>
            <a:srgbClr val="0C3A55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2996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BB"/>
                </a:solidFill>
                <a:latin typeface="Calibri"/>
              </a:rPr>
              <a:t>net worth
snapshots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651760" cy="1188720"/>
          </a:xfrm>
          <a:prstGeom prst="rect">
            <a:avLst/>
          </a:prstGeom>
          <a:solidFill>
            <a:srgbClr val="0C3A55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4630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~2ms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02996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BB"/>
                </a:solidFill>
                <a:latin typeface="Calibri"/>
              </a:rPr>
              <a:t>avg query
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DD"/>
                </a:solidFill>
                <a:latin typeface="Calibri"/>
              </a:rPr>
              <a:t>At 10M users × 500 transactions/year → 5 billion rows. Four critical bottlenecks: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5486400" cy="1389888"/>
          </a:xfrm>
          <a:prstGeom prst="rect">
            <a:avLst/>
          </a:prstGeom>
          <a:solidFill>
            <a:srgbClr val="0C2A3F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🔴  Full-Table Scans for Recurring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63931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DD"/>
                </a:solidFill>
                <a:latin typeface="Calibri"/>
              </a:rPr>
              <a:t>90-day merchant GROUP BY requires scanning every row per org. No index helps a GROUP BY merchantName across 5B rows. Estimated query time: &gt;30 seconds.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3246120"/>
            <a:ext cx="5486400" cy="1389888"/>
          </a:xfrm>
          <a:prstGeom prst="rect">
            <a:avLst/>
          </a:prstGeom>
          <a:solidFill>
            <a:srgbClr val="0C2A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🟡  Budget Aggregation on Every Page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363931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DD"/>
                </a:solidFill>
                <a:latin typeface="Calibri"/>
              </a:rPr>
              <a:t>Budget spent amounts are recomputed from raw transactions on each dashboard load. At scale, this cannot sustain real-time ingest without pre-aggregated materialized views.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79"/>
            <a:ext cx="5486400" cy="1389888"/>
          </a:xfrm>
          <a:prstGeom prst="rect">
            <a:avLst/>
          </a:prstGeom>
          <a:solidFill>
            <a:srgbClr val="0C2A3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84631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🔵  Per-User AI Insight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148071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DD"/>
                </a:solidFill>
                <a:latin typeface="Calibri"/>
              </a:rPr>
              <a:t>Each health report uses ~3,000 input tokens. At 10M users × weekly reports = 1.56T tokens/year ≈ $2M+ at current Claude API pricing. Requires batching, caching, and model distillation.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54879"/>
            <a:ext cx="5486400" cy="1389888"/>
          </a:xfrm>
          <a:prstGeom prst="rect">
            <a:avLst/>
          </a:prstGeom>
          <a:solidFill>
            <a:srgbClr val="0C2A3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1" y="484631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🟣  Synchronous Forecast Computation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5148071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DD"/>
                </a:solidFill>
                <a:latin typeface="Calibri"/>
              </a:rPr>
              <a:t>Linear regression computed on-demand per request. At scale, forecasts must be pre-computed in batch nightly and cached — not recomputed per page load.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BIG DATA ANALYSIS  ·  PART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Infrastructure Solutions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Apache Kafka — Real-Time Event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Transaction events published to finverse.transactions topic. Alert evaluation, budget aggregation, and anomaly detection subscribe as independent consumer groups — eliminates polling-based BullMQ approach.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79191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70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Apache Spark — Batch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72384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Nightly Spark jobs: recurring detection as distributed GroupBy, spending pattern clustering via k-means, forecast pre-computation via distributed linear regression across partitioned user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41063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3250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Data Warehouse (Snowflake / BigQuery)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34255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Separate OLAP tier from PostgreSQL OLTP. Transaction history, net worth snapshots, and portfolio valuations land in columnar storage optimised for aggregation — not live transaction rows.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02936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94375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Delta Lake / Parquet — Time-Series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96127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Net worth snapshots stored in Parquet partitioned by (user_id, year, month). ACID transactions via Delta Lake. Reduces net worth history from O(rows) to O(partitions).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5486400" cy="114300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508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Redis Distributed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1051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Pre-computed results with TTL: budget aggregations (5 min), recurring subscriptions (24 hr), forecast data (12 hr). Cache invalidation triggered via Kafka on new transaction ingest.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679191"/>
            <a:ext cx="5486400" cy="114300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770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PostgreSQL Read Replicas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072384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Streaming replication for reads. Write operations go to primary; dashboard reads, portfolio queries, and credit lookups route to read replicas — eliminating read/write contention.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941063"/>
            <a:ext cx="5486400" cy="114300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3250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Materialized Views for Aggregations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334255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Budget category spending, monthly net worth pre-computed as PostgreSQL materialized views. Refreshed incrementally on transaction insert via Kafka consumer — not on every page load.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202936"/>
            <a:ext cx="5486400" cy="114300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294375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AI Cost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596127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Embed spending patterns as 768-dim vectors. Batch similar users together. Use Claude only for final narrative generation on pre-computed summaries — reducing per-user token consumption by ~80%.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alibri"/>
              </a:rPr>
              <a:t>BIG DATA ANALYSIS  ·  PART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82F49"/>
                </a:solidFill>
                <a:latin typeface="Calibri"/>
              </a:rPr>
              <a:t>Transformative Opportunities at Population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Big data doesn't just solve the scaling problem — it enables entirely new product capabilities impossible with single-user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3657600" cy="21945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🏘️  Peer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2140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'Your food spending is 34% above similar households.' Cross-user analytics via k-anonymity / differential privacy transforms individual dashboards into contextualised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210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→ Spark aggregations + census cohort modelling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719072"/>
            <a:ext cx="3657600" cy="21945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🔍  ML Fraud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2140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Isolation Forest over transaction vectors (merchant, amount, time) trained on 5B+ labelled transactions. Detects anomalous charges in real time — impossible without population-scale training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210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→ Kafka streams + Seldon/BentoML model serving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19072"/>
            <a:ext cx="3657600" cy="21945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📉  Predictive Credit Modelling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2140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Feature-engineer 40+ signals from spending patterns and payment timing. Train gradient-boosted classifier to predict credit score change 60 days in advance — actionable, not retrospective.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210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→ Feature store + XGBoost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50791"/>
            <a:ext cx="3657600" cy="21945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📊  Market Correlation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5312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Correlate portfolio holdings with macro indicators (CPI, Fed rate, sector ETF flows). Proactive: 'Your NVDA position correlates 0.84 with NASDAQ — consider rebalancing.'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527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→ Time-series DB + financial data APIs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050791"/>
            <a:ext cx="3657600" cy="21945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🤖  Personalised AI Distillation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5312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Fine-tune a smaller model (Haiku-class) on FinVerse financial reasoning using RLHF from user feedback signals. Reduces inference cost 10× vs Claude Sonnet while maintaining domain accuracy.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9527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→ SFT pipeline + feedback telemetry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50791"/>
            <a:ext cx="3657600" cy="2194560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1605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2F49"/>
                </a:solidFill>
                <a:latin typeface="Calibri"/>
              </a:rPr>
              <a:t>🔔  Proactive Alert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5312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'Your gym membership has been unused for 47 days — 89% of users in this situation cancel within 60 days.' Rule-based thresholds replaced with ML-driven cohort behaviour analysis.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9527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Calibri"/>
              </a:rPr>
              <a:t>→ Behavioural cohort analysis + Kafka streaming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FinVerse: From Prototype to
Production-Grade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132320" cy="1261872"/>
          </a:xfrm>
          <a:prstGeom prst="rect">
            <a:avLst/>
          </a:prstGeom>
          <a:solidFill>
            <a:srgbClr val="0C3A55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Full-Stack Engineering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56232"/>
            <a:ext cx="6035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Built end-to-end: database schema, API architecture, authentication, background processing, AI integration, and a 14-module UI — demonstrating production-quality engineering across the entire stack.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2928"/>
            <a:ext cx="7132320" cy="1261872"/>
          </a:xfrm>
          <a:prstGeom prst="rect">
            <a:avLst/>
          </a:prstGeom>
          <a:solidFill>
            <a:srgbClr val="0C3A55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443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443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Algorithms Applied to Real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46120"/>
            <a:ext cx="6035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Recurring detection, linear regression forecasting, amortization simulation, and tax bracket calculation — all implemented from first principles, grounded in real financial mathematics.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42816"/>
            <a:ext cx="7132320" cy="1261872"/>
          </a:xfrm>
          <a:prstGeom prst="rect">
            <a:avLst/>
          </a:prstGeom>
          <a:solidFill>
            <a:srgbClr val="0C3A55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342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3425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Big Data Readiness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36008"/>
            <a:ext cx="6035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DD"/>
                </a:solidFill>
                <a:latin typeface="Calibri"/>
              </a:rPr>
              <a:t>Systematically identified where the synchronous single-node architecture fails at population scale, and mapped specific infrastructure solutions (Kafka, Spark, Delta Lake, Redis) to each bottleneck.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3566160" cy="1051560"/>
          </a:xfrm>
          <a:prstGeom prst="rect">
            <a:avLst/>
          </a:prstGeom>
          <a:solidFill>
            <a:srgbClr val="0C2A3F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214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8BDF8"/>
                </a:solidFill>
                <a:latin typeface="Calibri"/>
              </a:rPr>
              <a:t>Modules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651760"/>
            <a:ext cx="3566160" cy="1051560"/>
          </a:xfrm>
          <a:prstGeom prst="rect">
            <a:avLst/>
          </a:prstGeom>
          <a:solidFill>
            <a:srgbClr val="0C2A3F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697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101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8BDF8"/>
                </a:solidFill>
                <a:latin typeface="Calibri"/>
              </a:rPr>
              <a:t>DB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840480"/>
            <a:ext cx="3566160" cy="1051560"/>
          </a:xfrm>
          <a:prstGeom prst="rect">
            <a:avLst/>
          </a:prstGeom>
          <a:solidFill>
            <a:srgbClr val="0C2A3F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886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498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8BDF8"/>
                </a:solidFill>
                <a:latin typeface="Calibri"/>
              </a:rPr>
              <a:t>API Routes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5029200"/>
            <a:ext cx="3566160" cy="1051560"/>
          </a:xfrm>
          <a:prstGeom prst="rect">
            <a:avLst/>
          </a:prstGeom>
          <a:solidFill>
            <a:srgbClr val="0C2A3F"/>
          </a:solidFill>
          <a:ln w="6350">
            <a:solidFill>
              <a:srgbClr val="1A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687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8BDF8"/>
                </a:solidFill>
                <a:latin typeface="Calibri"/>
              </a:rPr>
              <a:t>Algorithms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6677"/>
                </a:solidFill>
                <a:latin typeface="Calibri"/>
              </a:rPr>
              <a:t>Paresh Pandit  ·  Graduate Submission  · 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263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5566"/>
                </a:solidFill>
                <a:latin typeface="Calibri"/>
              </a:rPr>
              <a:t>demo@finverse.app  /  Demo@2024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5566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